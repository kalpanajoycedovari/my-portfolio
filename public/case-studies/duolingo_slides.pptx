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E8F8D8"/>
          </a:solidFill>
          <a:ln w="12700">
            <a:solidFill>
              <a:srgbClr val="E8F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FFF8E0"/>
          </a:solidFill>
          <a:ln w="12700">
            <a:solidFill>
              <a:srgbClr val="FFF8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3474720"/>
            <a:ext cx="1371600" cy="137160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8CC02"/>
          </a:solidFill>
          <a:ln w="12700">
            <a:solidFill>
              <a:srgbClr val="58CC0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58C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Duolingo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Reimagined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language, not just surviving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5303520" cy="0"/>
          </a:xfrm>
          <a:prstGeom prst="line">
            <a:avLst/>
          </a:prstGeom>
          <a:noFill/>
          <a:ln w="19050">
            <a:solidFill>
              <a:srgbClr val="C8E6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2044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"Duolingo teaches you to pass a quiz. It doesn't teach you to speak. What if it taught grammar, verbs, real pronunciation — and learned what you love?"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590288"/>
            <a:ext cx="2011680" cy="420624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0857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C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47731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Designer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4590288"/>
            <a:ext cx="2011680" cy="420624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460857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C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06040" y="47731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4590288"/>
            <a:ext cx="2011680" cy="420624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460857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C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47731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· Maze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4590288"/>
            <a:ext cx="2011680" cy="420624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460857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C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03720" y="47731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8F8D8"/>
          </a:solidFill>
          <a:ln w="12700">
            <a:solidFill>
              <a:srgbClr val="E8F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58CC02"/>
          </a:solidFill>
          <a:ln w="12700">
            <a:solidFill>
              <a:srgbClr val="58CC0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The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Duolingo is the most downloaded language app. Yet &lt; 1% of users reach conversational fluency.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is not effort — it's the teaching model.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33472" cy="1325880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20240"/>
            <a:ext cx="2633472" cy="292608"/>
          </a:xfrm>
          <a:prstGeom prst="rect">
            <a:avLst/>
          </a:prstGeom>
          <a:solidFill>
            <a:srgbClr val="2D7A0A"/>
          </a:solidFill>
          <a:ln w="12700">
            <a:solidFill>
              <a:srgbClr val="2D7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2496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grammar rules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2496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sentences, never explains why. Users memorise without understanding.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633472" cy="1325880"/>
          </a:xfrm>
          <a:prstGeom prst="rect">
            <a:avLst/>
          </a:prstGeom>
          <a:solidFill>
            <a:srgbClr val="EEF6FF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920240"/>
            <a:ext cx="2633472" cy="292608"/>
          </a:xfrm>
          <a:prstGeom prst="rect">
            <a:avLst/>
          </a:prstGeom>
          <a:solidFill>
            <a:srgbClr val="1CB0F6"/>
          </a:solidFill>
          <a:ln w="12700">
            <a:solidFill>
              <a:srgbClr val="1CB0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20240"/>
            <a:ext cx="2496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 as vocabulary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267712"/>
            <a:ext cx="2496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Conjugations taught as separate items, not as a system. Each verb feels like scratch.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633472" cy="1325880"/>
          </a:xfrm>
          <a:prstGeom prst="rect">
            <a:avLst/>
          </a:prstGeom>
          <a:solidFill>
            <a:srgbClr val="FFF8E0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920240"/>
            <a:ext cx="2633472" cy="292608"/>
          </a:xfrm>
          <a:prstGeom prst="rect">
            <a:avLst/>
          </a:prstGeom>
          <a:solidFill>
            <a:srgbClr val="FF9600"/>
          </a:solidFill>
          <a:ln w="12700">
            <a:solidFill>
              <a:srgbClr val="FF9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20240"/>
            <a:ext cx="2496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audio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267712"/>
            <a:ext cx="2496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is clear but unnatural. Real native speakers are incomprehensible.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3566160"/>
            <a:ext cx="3017520" cy="1325880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3566160"/>
            <a:ext cx="3017520" cy="292608"/>
          </a:xfrm>
          <a:prstGeom prst="rect">
            <a:avLst/>
          </a:prstGeom>
          <a:solidFill>
            <a:srgbClr val="2D7A0A"/>
          </a:solidFill>
          <a:ln w="12700">
            <a:solidFill>
              <a:srgbClr val="2D7A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356616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vocab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3913632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learns "apple". Someone settling in Paris needs "landlord" and "council".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566160"/>
            <a:ext cx="3017520" cy="1325880"/>
          </a:xfrm>
          <a:prstGeom prst="rect">
            <a:avLst/>
          </a:prstGeom>
          <a:solidFill>
            <a:srgbClr val="FFF8E0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566160"/>
            <a:ext cx="3017520" cy="292608"/>
          </a:xfrm>
          <a:prstGeom prst="rect">
            <a:avLst/>
          </a:prstGeom>
          <a:solidFill>
            <a:srgbClr val="FF9600"/>
          </a:solidFill>
          <a:ln w="12700">
            <a:solidFill>
              <a:srgbClr val="FF96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56616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anxiety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913632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day breaks the streak. 5 words learned = zero credit. Anxiety over fluency.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8CC02"/>
          </a:solidFill>
          <a:ln w="12700">
            <a:solidFill>
              <a:srgbClr val="58C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The Redesign — Six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pedagogical layer that Duolingo is missing — without removing the gamification that makes it 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33472" cy="1508760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365760" cy="1508760"/>
          </a:xfrm>
          <a:prstGeom prst="rect">
            <a:avLst/>
          </a:prstGeom>
          <a:solidFill>
            <a:srgbClr val="2D7A0A"/>
          </a:solidFill>
          <a:ln w="12700">
            <a:solidFill>
              <a:srgbClr val="2D7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365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645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 owl grammar lessons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99339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 explains the grammar rule before any exercise. One explanation unlocks hundreds of words.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633472" cy="1508760"/>
          </a:xfrm>
          <a:prstGeom prst="rect">
            <a:avLst/>
          </a:prstGeom>
          <a:solidFill>
            <a:srgbClr val="EEF6FF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554480"/>
            <a:ext cx="365760" cy="1508760"/>
          </a:xfrm>
          <a:prstGeom prst="rect">
            <a:avLst/>
          </a:prstGeom>
          <a:solidFill>
            <a:srgbClr val="1CB0F6"/>
          </a:solidFill>
          <a:ln w="12700">
            <a:solidFill>
              <a:srgbClr val="1CB0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554480"/>
            <a:ext cx="365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75888" y="1645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conjugation tables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75888" y="199339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tables with colour-coded patterns and phonetic columns. See the system, not just the words.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2633472" cy="1508760"/>
          </a:xfrm>
          <a:prstGeom prst="rect">
            <a:avLst/>
          </a:prstGeom>
          <a:solidFill>
            <a:srgbClr val="FFF8E0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554480"/>
            <a:ext cx="365760" cy="1508760"/>
          </a:xfrm>
          <a:prstGeom prst="rect">
            <a:avLst/>
          </a:prstGeom>
          <a:solidFill>
            <a:srgbClr val="FF9600"/>
          </a:solidFill>
          <a:ln w="12700">
            <a:solidFill>
              <a:srgbClr val="FF9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554480"/>
            <a:ext cx="365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0528" y="1645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word of the day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10528" y="199339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daily words chosen from your interests. A nature lover gets sky, moon, cloud. Streak counts.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2633472" cy="1508760"/>
          </a:xfrm>
          <a:prstGeom prst="rect">
            <a:avLst/>
          </a:prstGeom>
          <a:solidFill>
            <a:srgbClr val="EEF6FF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46120"/>
            <a:ext cx="365760" cy="1508760"/>
          </a:xfrm>
          <a:prstGeom prst="rect">
            <a:avLst/>
          </a:prstGeom>
          <a:solidFill>
            <a:srgbClr val="1CB0F6"/>
          </a:solidFill>
          <a:ln w="12700">
            <a:solidFill>
              <a:srgbClr val="1CB0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46120"/>
            <a:ext cx="365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33375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+ fast pronunciation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368503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has two audio modes. Slow = syllable by syllable. Fast = native speaker speed.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246120"/>
            <a:ext cx="2633472" cy="1508760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246120"/>
            <a:ext cx="365760" cy="1508760"/>
          </a:xfrm>
          <a:prstGeom prst="rect">
            <a:avLst/>
          </a:prstGeom>
          <a:solidFill>
            <a:srgbClr val="2D7A0A"/>
          </a:solidFill>
          <a:ln w="12700">
            <a:solidFill>
              <a:srgbClr val="2D7A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246120"/>
            <a:ext cx="365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75888" y="33375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checkpoint exams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75888" y="368503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A1–B2 structured exams with sentence-building questions. Know exactly where you stand.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3246120"/>
            <a:ext cx="2633472" cy="1508760"/>
          </a:xfrm>
          <a:prstGeom prst="rect">
            <a:avLst/>
          </a:prstGeom>
          <a:solidFill>
            <a:srgbClr val="FFF8E0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3246120"/>
            <a:ext cx="365760" cy="1508760"/>
          </a:xfrm>
          <a:prstGeom prst="rect">
            <a:avLst/>
          </a:prstGeom>
          <a:solidFill>
            <a:srgbClr val="FF9600"/>
          </a:solidFill>
          <a:ln w="12700">
            <a:solidFill>
              <a:srgbClr val="FF96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3246120"/>
            <a:ext cx="365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10528" y="33375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Goal-shaped curriculum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10528" y="368503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Settling in Europe? You get landlord, council, transport early. Traveller? Restaurant and emergency first.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CB0F6"/>
          </a:solidFill>
          <a:ln w="12700">
            <a:solidFill>
              <a:srgbClr val="1CB0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B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Grammar + Pronunciation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703320"/>
          </a:xfrm>
          <a:prstGeom prst="rect">
            <a:avLst/>
          </a:prstGeom>
          <a:solidFill>
            <a:srgbClr val="EEF6FF"/>
          </a:solidFill>
          <a:ln w="12700">
            <a:solidFill>
              <a:srgbClr val="84C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0" cy="347472"/>
          </a:xfrm>
          <a:prstGeom prst="rect">
            <a:avLst/>
          </a:prstGeom>
          <a:solidFill>
            <a:srgbClr val="1CB0F6"/>
          </a:solidFill>
          <a:ln w="12700">
            <a:solidFill>
              <a:srgbClr val="1CB0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PARLER — to speak (French present tense)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81912"/>
            <a:ext cx="4114800" cy="457200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819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(I)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158191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15819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B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parl-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(you)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2057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2057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B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parl-s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32888"/>
            <a:ext cx="4114800" cy="457200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328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il/elle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253288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25328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B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parl-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08376"/>
            <a:ext cx="4114800" cy="457200"/>
          </a:xfrm>
          <a:prstGeom prst="rect">
            <a:avLst/>
          </a:prstGeom>
          <a:solidFill>
            <a:srgbClr val="FFF0CC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0837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(we)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300837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63240" y="30083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B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parl-ons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83864"/>
            <a:ext cx="4114800" cy="457200"/>
          </a:xfrm>
          <a:prstGeom prst="rect">
            <a:avLst/>
          </a:prstGeom>
          <a:solidFill>
            <a:srgbClr val="FFF0CC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4838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(you all)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74520" y="348386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parlez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63240" y="348386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B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parl-ez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959352"/>
            <a:ext cx="4114800" cy="457200"/>
          </a:xfrm>
          <a:prstGeom prst="rect">
            <a:avLst/>
          </a:prstGeom>
          <a:solidFill>
            <a:srgbClr val="EEF6FF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9593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ils/elles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74520" y="39593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63240" y="39593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B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parl-ent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462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= conjugation group. Green = singular stems. Orange = nous/vous. Blue = they.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1143000"/>
            <a:ext cx="4114800" cy="3703320"/>
          </a:xfrm>
          <a:prstGeom prst="rect">
            <a:avLst/>
          </a:prstGeom>
          <a:solidFill>
            <a:srgbClr val="FFF8E0"/>
          </a:solidFill>
          <a:ln w="12700">
            <a:solidFill>
              <a:srgbClr val="FFD9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143000"/>
            <a:ext cx="4114800" cy="347472"/>
          </a:xfrm>
          <a:prstGeom prst="rect">
            <a:avLst/>
          </a:prstGeom>
          <a:solidFill>
            <a:srgbClr val="FF9600"/>
          </a:solidFill>
          <a:ln w="12700">
            <a:solidFill>
              <a:srgbClr val="FF96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nuage — slow vs. fast pronunciation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1600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breakdown (slow mode)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1920240"/>
            <a:ext cx="1005840" cy="502920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1920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luh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892040" y="22311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1920240"/>
            <a:ext cx="1005840" cy="502920"/>
          </a:xfrm>
          <a:prstGeom prst="rect">
            <a:avLst/>
          </a:prstGeom>
          <a:solidFill>
            <a:srgbClr val="EEF6FF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1920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26480" y="22311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60920" y="1920240"/>
            <a:ext cx="1005840" cy="502920"/>
          </a:xfrm>
          <a:prstGeom prst="rect">
            <a:avLst/>
          </a:prstGeom>
          <a:solidFill>
            <a:srgbClr val="FFF8E0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60920" y="1920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ahj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60920" y="22311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00600" y="2578608"/>
            <a:ext cx="3840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D9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2651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37760" y="2880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luh · noo · ahj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00800" y="2651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fast: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0" y="2880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l'noo-ahj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00600" y="3584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speaker note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00600" y="385876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speed, the 'le' blends in. The 'age' ending sounds like the 's' in 'measure' — not like English 'age'. This is what shocks learners in real conversations."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8E0"/>
          </a:solidFill>
          <a:ln w="12700">
            <a:solidFill>
              <a:srgbClr val="FFF8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9600"/>
          </a:solidFill>
          <a:ln w="12700">
            <a:solidFill>
              <a:srgbClr val="FF9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AI Words + Research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word of the day — how it works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4114800" cy="685800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lover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sky, cloud, moon, sunset, star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14800" cy="685800"/>
          </a:xfrm>
          <a:prstGeom prst="rect">
            <a:avLst/>
          </a:prstGeom>
          <a:solidFill>
            <a:srgbClr val="FFF8E0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408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sauté, simmer, garnish, recipe, spice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90672"/>
            <a:ext cx="4114800" cy="685800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455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explorer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metro, district, museum, café, fountain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895344"/>
            <a:ext cx="4114800" cy="685800"/>
          </a:xfrm>
          <a:prstGeom prst="rect">
            <a:avLst/>
          </a:prstGeom>
          <a:solidFill>
            <a:srgbClr val="FFF8E0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502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215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lecture, deadline, thesis, campus, grade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4114800" cy="292608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81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5 words = streak maintained, even on busy days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115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research told 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481328"/>
            <a:ext cx="4114800" cy="713232"/>
          </a:xfrm>
          <a:prstGeom prst="rect">
            <a:avLst/>
          </a:prstGeom>
          <a:solidFill>
            <a:srgbClr val="EEF6FF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481328"/>
            <a:ext cx="73152" cy="713232"/>
          </a:xfrm>
          <a:prstGeom prst="rect">
            <a:avLst/>
          </a:prstGeom>
          <a:solidFill>
            <a:srgbClr val="1CB0F6"/>
          </a:solidFill>
          <a:ln w="12700">
            <a:solidFill>
              <a:srgbClr val="1CB0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536192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"I've done 200 days and can't have a basic conversation."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86537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complaint across Reddit, App Store, and Trustpilot reviews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322576"/>
            <a:ext cx="4114800" cy="713232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322576"/>
            <a:ext cx="73152" cy="713232"/>
          </a:xfrm>
          <a:prstGeom prst="rect">
            <a:avLst/>
          </a:prstGeom>
          <a:solidFill>
            <a:srgbClr val="2D7A0A"/>
          </a:solidFill>
          <a:ln w="12700">
            <a:solidFill>
              <a:srgbClr val="2D7A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37744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retention with personalised vocabulary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70662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generic word lists — spaced repetition research, 2022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163824"/>
            <a:ext cx="4114800" cy="713232"/>
          </a:xfrm>
          <a:prstGeom prst="rect">
            <a:avLst/>
          </a:prstGeom>
          <a:solidFill>
            <a:srgbClr val="EEF6FF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163824"/>
            <a:ext cx="73152" cy="713232"/>
          </a:xfrm>
          <a:prstGeom prst="rect">
            <a:avLst/>
          </a:prstGeom>
          <a:solidFill>
            <a:srgbClr val="1CB0F6"/>
          </a:solidFill>
          <a:ln w="12700">
            <a:solidFill>
              <a:srgbClr val="1CB0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18688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 anxiety = #1 barrier to speaking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54787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avoid native speakers because real speech sounds nothing like Duolingo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4005072"/>
            <a:ext cx="4114800" cy="713232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4005072"/>
            <a:ext cx="73152" cy="713232"/>
          </a:xfrm>
          <a:prstGeom prst="rect">
            <a:avLst/>
          </a:prstGeom>
          <a:solidFill>
            <a:srgbClr val="2D7A0A"/>
          </a:solidFill>
          <a:ln w="12700">
            <a:solidFill>
              <a:srgbClr val="2D7A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059936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supplement users progress 3x faster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43891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add grammar resources alongside Duolingo outperform those who don't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8F8D8"/>
          </a:solidFill>
          <a:ln w="12700">
            <a:solidFill>
              <a:srgbClr val="E8F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58CC02"/>
          </a:solidFill>
          <a:ln w="12700">
            <a:solidFill>
              <a:srgbClr val="58CC0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Prototype &amp; Outcomes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unmoderated test · 8 participants · 3 moderated sessions · All current or lapsed Duolingo users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011680" cy="1481328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8/8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24942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conjugation table on first 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463040"/>
            <a:ext cx="2011680" cy="1481328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5087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7/8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224942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grammar explanation "changed how I see it"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2011680" cy="1481328"/>
          </a:xfrm>
          <a:prstGeom prst="rect">
            <a:avLst/>
          </a:prstGeom>
          <a:solidFill>
            <a:srgbClr val="EEF6FF"/>
          </a:solidFill>
          <a:ln w="12700">
            <a:solidFill>
              <a:srgbClr val="84C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B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63440" y="224942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slow+fast over single audio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463040"/>
            <a:ext cx="2011680" cy="1481328"/>
          </a:xfrm>
          <a:prstGeom prst="rect">
            <a:avLst/>
          </a:prstGeom>
          <a:solidFill>
            <a:srgbClr val="FFF8E0"/>
          </a:solidFill>
          <a:ln w="12700">
            <a:solidFill>
              <a:srgbClr val="FFD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5087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12280" y="224942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 words in a sentence unprompted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8412480" cy="548640"/>
          </a:xfrm>
          <a:prstGeom prst="rect">
            <a:avLst/>
          </a:prstGeom>
          <a:solidFill>
            <a:srgbClr val="E8F8D8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108960"/>
            <a:ext cx="91440" cy="548640"/>
          </a:xfrm>
          <a:prstGeom prst="rect">
            <a:avLst/>
          </a:prstGeom>
          <a:solidFill>
            <a:srgbClr val="2D7A0A"/>
          </a:solidFill>
          <a:ln w="12700">
            <a:solidFill>
              <a:srgbClr val="2D7A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45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what Duolingo should have been from the start."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438144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26. Spent 12 minutes on the conjugation table — unprompted.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730752"/>
            <a:ext cx="8412480" cy="548640"/>
          </a:xfrm>
          <a:prstGeom prst="rect">
            <a:avLst/>
          </a:prstGeom>
          <a:solidFill>
            <a:srgbClr val="EEF6FF"/>
          </a:solidFill>
          <a:ln w="12700">
            <a:solidFill>
              <a:srgbClr val="84C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30752"/>
            <a:ext cx="91440" cy="548640"/>
          </a:xfrm>
          <a:prstGeom prst="rect">
            <a:avLst/>
          </a:prstGeom>
          <a:solidFill>
            <a:srgbClr val="1CB0F6"/>
          </a:solidFill>
          <a:ln w="12700">
            <a:solidFill>
              <a:srgbClr val="1CB0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673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B0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slow/fast button is everything. I always wondered why real French sounds nothing like what I learn."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059936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31. Replayed the fast mode 4 times for a single word.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352544"/>
            <a:ext cx="8412480" cy="548640"/>
          </a:xfrm>
          <a:prstGeom prst="rect">
            <a:avLst/>
          </a:prstGeom>
          <a:solidFill>
            <a:srgbClr val="FFF8E0"/>
          </a:solidFill>
          <a:ln w="12700">
            <a:solidFill>
              <a:srgbClr val="FFD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352544"/>
            <a:ext cx="91440" cy="548640"/>
          </a:xfrm>
          <a:prstGeom prst="rect">
            <a:avLst/>
          </a:prstGeom>
          <a:solidFill>
            <a:srgbClr val="FF9600"/>
          </a:solidFill>
          <a:ln w="12700">
            <a:solidFill>
              <a:srgbClr val="FF96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3891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9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picked astronomy as a joke and it gave me constellation, eclipse, orbit. I actually want to learn those."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68172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23. Completed all 5 AI words without prompting.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C8E6B0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91440"/>
            <a:ext cx="2011680" cy="2011680"/>
          </a:xfrm>
          <a:prstGeom prst="ellipse">
            <a:avLst/>
          </a:prstGeom>
          <a:solidFill>
            <a:srgbClr val="FFF8E0"/>
          </a:solidFill>
          <a:ln w="12700">
            <a:solidFill>
              <a:srgbClr val="FFF8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8CC02"/>
          </a:solidFill>
          <a:ln w="12700">
            <a:solidFill>
              <a:srgbClr val="58CC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E6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6217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72768"/>
            <a:ext cx="91440" cy="1691640"/>
          </a:xfrm>
          <a:prstGeom prst="rect">
            <a:avLst/>
          </a:prstGeom>
          <a:solidFill>
            <a:srgbClr val="58CC02"/>
          </a:solidFill>
          <a:ln w="12700">
            <a:solidFill>
              <a:srgbClr val="58CC0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45920"/>
            <a:ext cx="585216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Duolingo's gamification is brilliant — it solves motivation.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redesign solves the other half: comprehension.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90 seconds of grammar explanation makes the next 30 minutes of practice actually build fluency.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4015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more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7307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Longitudinal study — do grammar-first learners retain more after 3 months?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0233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User-rated AI word feedback loop — thumbs up/down to improve suggestions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3159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"Native mode" — full lesson conducted by a real native speaker recording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60857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Partner mode — practice sentences with another learner in real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Kalpana Joyce Dovari  ·  github.com/kalpanajoycedovari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Duolingo Reimagined — Case Study</dc:title>
  <dc:subject>PptxGenJS Presentation</dc:subject>
  <dc:creator>Kalpana Joyce Dovari</dc:creator>
  <cp:lastModifiedBy>Kalpana Joyce Dovari</cp:lastModifiedBy>
  <cp:revision>1</cp:revision>
  <dcterms:created xsi:type="dcterms:W3CDTF">2026-04-10T17:08:10Z</dcterms:created>
  <dcterms:modified xsi:type="dcterms:W3CDTF">2026-04-10T17:08:10Z</dcterms:modified>
</cp:coreProperties>
</file>